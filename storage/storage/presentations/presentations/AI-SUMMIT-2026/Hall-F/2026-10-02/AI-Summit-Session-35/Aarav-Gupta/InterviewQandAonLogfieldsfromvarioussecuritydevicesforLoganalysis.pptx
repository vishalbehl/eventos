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26" r:id="rId2"/>
    <p:sldId id="338" r:id="rId3"/>
    <p:sldId id="328" r:id="rId4"/>
    <p:sldId id="327" r:id="rId5"/>
    <p:sldId id="329" r:id="rId6"/>
    <p:sldId id="330" r:id="rId7"/>
    <p:sldId id="331" r:id="rId8"/>
    <p:sldId id="332" r:id="rId9"/>
    <p:sldId id="333" r:id="rId10"/>
    <p:sldId id="334" r:id="rId11"/>
    <p:sldId id="336" r:id="rId12"/>
    <p:sldId id="335" r:id="rId13"/>
    <p:sldId id="33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CB4A1C-70E5-481C-82C2-3DF2B728DF66}" v="1" dt="2024-01-28T14:35:50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FDB26C-1F38-48D8-AB7D-C1A09F34957E}" type="datetimeFigureOut">
              <a:rPr lang="en-IN" smtClean="0"/>
              <a:t>28-01-2024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D6FFF0-F545-4F78-9E4A-6AD8BA997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345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Explain Dictionary attack and Mitigation ?</a:t>
            </a:r>
          </a:p>
          <a:p>
            <a:pPr marL="0" indent="0">
              <a:buNone/>
            </a:pPr>
            <a:endParaRPr lang="en-US" sz="12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374151"/>
                </a:solidFill>
                <a:latin typeface="Söhne"/>
              </a:rPr>
              <a:t>Dictionary attack is</a:t>
            </a:r>
            <a:r>
              <a:rPr lang="en-US" sz="1200" dirty="0">
                <a:solidFill>
                  <a:srgbClr val="374151"/>
                </a:solidFill>
                <a:latin typeface="Söhne"/>
              </a:rPr>
              <a:t> type of brute force attack where an intruder attempts to crack a password-protected security system with a “dictionary list” of common words and phrases used by businesses and individuals.</a:t>
            </a:r>
          </a:p>
          <a:p>
            <a:pPr marL="0" indent="0">
              <a:buNone/>
            </a:pPr>
            <a:endParaRPr lang="en-US" sz="1200" dirty="0">
              <a:solidFill>
                <a:srgbClr val="374151"/>
              </a:solidFill>
              <a:latin typeface="Söhne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374151"/>
                </a:solidFill>
                <a:latin typeface="Söhne"/>
              </a:rPr>
              <a:t>M</a:t>
            </a:r>
            <a:r>
              <a:rPr lang="en-IN" sz="1200" b="0" i="0" dirty="0">
                <a:solidFill>
                  <a:srgbClr val="374151"/>
                </a:solidFill>
                <a:effectLst/>
                <a:latin typeface="Söhne"/>
              </a:rPr>
              <a:t>itigation :</a:t>
            </a:r>
          </a:p>
          <a:p>
            <a:pPr marL="0" indent="0">
              <a:buNone/>
            </a:pPr>
            <a:endParaRPr lang="en-US" sz="1200" dirty="0">
              <a:solidFill>
                <a:srgbClr val="374151"/>
              </a:solidFill>
              <a:latin typeface="Söhne"/>
            </a:endParaRPr>
          </a:p>
          <a:p>
            <a:r>
              <a:rPr lang="en-IN" sz="1200" b="0" i="0" dirty="0">
                <a:solidFill>
                  <a:srgbClr val="374151"/>
                </a:solidFill>
                <a:effectLst/>
                <a:latin typeface="Söhne"/>
              </a:rPr>
              <a:t>Enforce strong password policies:</a:t>
            </a:r>
          </a:p>
          <a:p>
            <a:endParaRPr lang="en-US" sz="1200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en-IN" sz="1200" b="0" i="0" dirty="0">
                <a:solidFill>
                  <a:srgbClr val="374151"/>
                </a:solidFill>
                <a:effectLst/>
                <a:latin typeface="Söhne"/>
              </a:rPr>
              <a:t>Implement multi-factor authentication,</a:t>
            </a:r>
            <a:endParaRPr lang="en-US" sz="1200" dirty="0">
              <a:solidFill>
                <a:srgbClr val="374151"/>
              </a:solidFill>
              <a:latin typeface="Söhne"/>
            </a:endParaRPr>
          </a:p>
          <a:p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Monitor for suspicious login activity,</a:t>
            </a:r>
          </a:p>
          <a:p>
            <a:r>
              <a:rPr lang="en-IN" sz="1200" dirty="0">
                <a:solidFill>
                  <a:srgbClr val="374151"/>
                </a:solidFill>
                <a:latin typeface="Söhne"/>
              </a:rPr>
              <a:t>Educate users,</a:t>
            </a:r>
          </a:p>
          <a:p>
            <a:r>
              <a:rPr lang="en-IN" sz="1200" dirty="0">
                <a:solidFill>
                  <a:srgbClr val="374151"/>
                </a:solidFill>
                <a:latin typeface="Söhne"/>
              </a:rPr>
              <a:t>Limit login attempts,</a:t>
            </a:r>
          </a:p>
          <a:p>
            <a:r>
              <a:rPr lang="en-IN" sz="1200" dirty="0">
                <a:solidFill>
                  <a:srgbClr val="374151"/>
                </a:solidFill>
                <a:latin typeface="Söhne"/>
              </a:rPr>
              <a:t>Monitor for unusual activity,</a:t>
            </a:r>
            <a:endParaRPr lang="en-US" sz="12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6D479-4FDB-47AC-A530-67DC6BA6F0B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695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en-US" sz="12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6D479-4FDB-47AC-A530-67DC6BA6F0B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649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IN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Q61: Can you explain Important fields in Firewall?</a:t>
            </a:r>
          </a:p>
          <a:p>
            <a:pPr algn="l">
              <a:buFont typeface="+mj-lt"/>
              <a:buNone/>
            </a:pPr>
            <a:endParaRPr lang="en-US" sz="1200" b="1" i="0" dirty="0">
              <a:effectLst/>
              <a:latin typeface="Söhne"/>
            </a:endParaRPr>
          </a:p>
          <a:p>
            <a:pPr algn="l">
              <a:buFont typeface="+mj-lt"/>
              <a:buNone/>
            </a:pPr>
            <a:endParaRPr lang="en-US" sz="1200" b="1" i="0" dirty="0"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effectLst/>
                <a:latin typeface="Söhne"/>
              </a:rPr>
              <a:t>Source IP Address</a:t>
            </a:r>
            <a:r>
              <a:rPr lang="en-US" sz="1200" b="0" i="0" dirty="0">
                <a:effectLst/>
                <a:latin typeface="Söhne"/>
              </a:rPr>
              <a:t>: This field identifies the IP address of the computer or device that is attempting to access the network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effectLst/>
                <a:latin typeface="Söhne"/>
              </a:rPr>
              <a:t>Destination IP Address</a:t>
            </a:r>
            <a:r>
              <a:rPr lang="en-US" sz="1200" b="0" i="0" dirty="0">
                <a:effectLst/>
                <a:latin typeface="Söhne"/>
              </a:rPr>
              <a:t>: This field identifies the IP address of the computer or device that is being accessed. 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effectLst/>
                <a:latin typeface="Söhne"/>
              </a:rPr>
              <a:t>Source Port</a:t>
            </a:r>
            <a:r>
              <a:rPr lang="en-US" sz="1200" b="0" i="0" dirty="0">
                <a:effectLst/>
                <a:latin typeface="Söhne"/>
              </a:rPr>
              <a:t>: This field identifies the port number used by the source device to send the traffic. 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effectLst/>
                <a:latin typeface="Söhne"/>
              </a:rPr>
              <a:t>Destination Port</a:t>
            </a:r>
            <a:r>
              <a:rPr lang="en-US" sz="1200" b="0" i="0" dirty="0">
                <a:effectLst/>
                <a:latin typeface="Söhne"/>
              </a:rPr>
              <a:t>: This field identifies the port number used by the destination device to receive the traffic. 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effectLst/>
                <a:latin typeface="Söhne"/>
              </a:rPr>
              <a:t>Protocol</a:t>
            </a:r>
            <a:r>
              <a:rPr lang="en-US" sz="1200" b="0" i="0" dirty="0">
                <a:effectLst/>
                <a:latin typeface="Söhne"/>
              </a:rPr>
              <a:t>: This field identifies the protocol used by the traffic, such as TCP, UDP, or ICMP. 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Timestamp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indicates the date and time when the traffic was logged.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Event Type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identifies the type of event being logged, such as "allowed" or "blocked".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Source Country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identifies the country of origin of the traffic, which can be useful in identifying potential threats.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Destination Country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identifies the country of the destination of the traffic.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Bytes Sent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indicates the number of bytes sent in the traffic.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Bytes Received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indicates the number of bytes received in the traffic.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Protocol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identifies the protocol used by the traffic, such as TCP or UDP.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Action Taken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indicates the action taken by the firewall, such as "allowed" or "blocked".</a:t>
            </a:r>
          </a:p>
          <a:p>
            <a:pPr algn="l">
              <a:buFont typeface="+mj-lt"/>
              <a:buAutoNum type="arabicPeriod"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6D479-4FDB-47AC-A530-67DC6BA6F0B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630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IN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Q61: Can you explain Important fields in IPS (intrusion Prevention system) </a:t>
            </a:r>
            <a:endParaRPr lang="en-US" sz="1200" b="1" i="0" dirty="0">
              <a:effectLst/>
              <a:latin typeface="Söhne"/>
            </a:endParaRPr>
          </a:p>
          <a:p>
            <a:pPr algn="l">
              <a:buFont typeface="+mj-lt"/>
              <a:buNone/>
            </a:pPr>
            <a:endParaRPr lang="en-US" sz="1200" b="1" i="0" dirty="0"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Timestamp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indicates the date and time when the threat was detected.</a:t>
            </a:r>
          </a:p>
          <a:p>
            <a:pPr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Event Type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identifies the type of event being logged, such as "detected" or "blocked".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Source IP Address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identifies the IP address of the computer or device that is the source of the threat.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Destination IP Address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identifies the IP address of the computer or device that is the target of the threat.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Source Port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identifies the port number used by the source device to send the traffic.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Destination Port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identifies the port number used by the destination device to receive the traffic.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Signature ID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identifies the unique identifier of the signature that triggered the IPS to take action.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Signature Name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provides a descriptive name for the signature that triggered the IPS to take action.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Severity: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This field indicates the severity of the threat, which can range from low to critical.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Action Taken: 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This field indicates the action taken by the IPS, such as "blocked" or "logged".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Alert Type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identifies the type of alert being generated, such as "intrusion detected" or "virus detected".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Attack Method: 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This field provides information about the method used by the attacker to carry out the attack.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Attack Target: 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This field provides information about the target of the attack, such as a specific application or protocol.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Attack Type: 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This field provides information about the type of attack, such as a denial of service (DoS) attack or a buffer overflow attack.</a:t>
            </a:r>
          </a:p>
          <a:p>
            <a:pPr marL="0" indent="0" algn="l">
              <a:buNone/>
            </a:pPr>
            <a:endParaRPr lang="en-US" sz="105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indent="0">
              <a:buNone/>
            </a:pPr>
            <a:br>
              <a:rPr lang="en-US" sz="1050" dirty="0"/>
            </a:b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IN" dirty="0"/>
          </a:p>
          <a:p>
            <a:pPr algn="l">
              <a:buFont typeface="+mj-lt"/>
              <a:buAutoNum type="arabicPeriod"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6D479-4FDB-47AC-A530-67DC6BA6F0B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583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r>
              <a:rPr lang="en-IN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Can you explain Important fields in EDR ?</a:t>
            </a:r>
            <a:endParaRPr lang="en-US" sz="1200" b="1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endParaRPr lang="en-US" sz="1200" b="1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Timestamp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indicates the date and time when the event was logged.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Event Type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identifies the type of event being logged, such as "process execution" or "file modification".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Process Name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identifies the name of the process or application that is being executed or modified.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Process ID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provides a unique identifier for the process or application.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User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identifies the user account that is associated with the process or application.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Source IP Address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identifies the IP address of the computer or device that is the source of the event.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Destination IP Address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identifies the IP address of the computer or device that is the target of the event.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File Name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identifies the name of the file that is being modified or executed.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File Path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identifies the path to the file that is being modified or executed.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Hash Value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provides a unique identifier for the file based on its cryptographic hash value.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Action Taken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indicates the action taken by the EDR system in response to the event, such as "blocked" or "quarantined".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Threat Type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identifies the type of threat that is associated with the event, such as malware or a suspicious process.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Threat Name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provides a descriptive name for the threat that is associated with the event.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Detection Method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identifies the method used by the EDR system to detect the threat, such as behavior monitoring or signature-based detection.</a:t>
            </a: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Severity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This field indicates the severity of the event, which can range from low to critical.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6D479-4FDB-47AC-A530-67DC6BA6F0B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317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en-US" sz="12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6D479-4FDB-47AC-A530-67DC6BA6F0B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349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en-US" sz="12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6D479-4FDB-47AC-A530-67DC6BA6F0B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117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en-US" sz="12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6D479-4FDB-47AC-A530-67DC6BA6F0B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219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en-US" sz="12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6D479-4FDB-47AC-A530-67DC6BA6F0B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41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en-US" sz="12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6D479-4FDB-47AC-A530-67DC6BA6F0B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9614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en-US" sz="12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6D479-4FDB-47AC-A530-67DC6BA6F0B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933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en-US" sz="12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6D479-4FDB-47AC-A530-67DC6BA6F0BC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418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B9283-D5CE-C919-5538-6586FD3D2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B7495-6D57-8A72-2944-E8FCAF237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06CE0-D5D2-B72F-AEAD-9AFBFA47A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5378-3B19-4AEB-9E65-35F8896FDBDB}" type="datetime1">
              <a:rPr lang="en-IN" smtClean="0"/>
              <a:t>28-01-2024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BD7DC-896E-0A48-2FFB-D6103BB1F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Cyber talents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A3FF1-84D5-B804-5E4A-CAEB62826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C0D0F-E26C-42E0-ACA2-AA829D7AF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792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83F7-3BB6-7DCA-1D07-7CBAEC915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32C05-5580-6865-DBD1-B30D0AABA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31F35-2B53-C556-B447-F772D0F11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C19CD-FDEB-44C2-915C-4809EEA5046E}" type="datetime1">
              <a:rPr lang="en-IN" smtClean="0"/>
              <a:t>28-01-2024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CBECC-26FD-190B-F8AB-C029E0620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Cyber talents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44681-DE13-FA73-5F98-E9E916D58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C0D0F-E26C-42E0-ACA2-AA829D7AF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433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7F0E0-F8ED-5EB2-A249-CC48D3204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8608E-E0E7-541C-B398-A2EA7058A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F2C5A-3083-7CF1-BC90-BAEC8A606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2C972-4A88-44B8-BE2B-DE0EFFAB09C2}" type="datetime1">
              <a:rPr lang="en-IN" smtClean="0"/>
              <a:t>28-01-2024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E968A-3335-8415-7FEB-2FE821664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Cyber talents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F5A58-0ACA-4620-DA12-0B23559FB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C0D0F-E26C-42E0-ACA2-AA829D7AF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789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D0B13-142A-B0F5-5FB5-0DE31B060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0BB8C-1C86-A97F-9021-2BEFB30A04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CB6080-4EFA-CB2F-60B7-F213A1094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D2BBF-B2AE-847A-1681-4F5E765AD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F2A4-7B18-42AF-8913-E2C7F374AFDF}" type="datetime1">
              <a:rPr lang="en-IN" smtClean="0"/>
              <a:t>28-01-2024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378CE-A9FC-2437-0E8A-C2E91F4C2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Cyber talents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92562-201C-49D8-3F1B-BDFBA2D9B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C0D0F-E26C-42E0-ACA2-AA829D7AF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411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3536D-EC6A-37EF-D44E-231A41D4C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55A6F-2D87-2E65-2A3B-49955BE1C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3C4D76-B1B3-BD2E-B22C-3700E9DBE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CE7392-9331-BF3D-3091-FFFDD57C05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CC895-C4B6-563E-D5AB-E0B4F05EE2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FD03B8-A5F5-146F-815B-E26167206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762CB-ADBD-4514-AFB9-D5AFA842F5FE}" type="datetime1">
              <a:rPr lang="en-IN" smtClean="0"/>
              <a:t>28-01-2024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A84016-5DFC-9C6D-85FB-19FBCAFEF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Cyber talents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A784E0-5440-D892-30AB-6FBDB1355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C0D0F-E26C-42E0-ACA2-AA829D7AF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838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AAA3A-44CA-FC9C-AF28-A1A90BB53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CBF0D8-3846-A323-072E-403D8C43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F19CA-A616-4350-A51B-4F005B15B6EB}" type="datetime1">
              <a:rPr lang="en-IN" smtClean="0"/>
              <a:t>28-01-2024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DA4A45-C1DC-8C1F-E22C-2B25B91AF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Cyber talents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94BBD-F9AD-7934-49EC-D68C7ED38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C0D0F-E26C-42E0-ACA2-AA829D7AF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842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FE70DA-7A20-3C88-ED77-CDEF8B989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A1A4-41CD-4C55-A774-8C7D4A5E2891}" type="datetime1">
              <a:rPr lang="en-IN" smtClean="0"/>
              <a:t>28-01-2024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9BEE19-C62E-37F3-01E1-4788894CC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Cyber talents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E3184-EF50-389E-C68A-7652C91BA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C0D0F-E26C-42E0-ACA2-AA829D7AF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009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D19D9-5667-7797-F5FA-CE0ADB124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E615E-CE53-A9DA-9080-30725347F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569FF-DFED-0F4E-1560-9661ACDE1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E6B45-4B6B-49E9-1376-8F834E9EF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4A15D-1C9C-4F50-B437-5F1657351C2D}" type="datetime1">
              <a:rPr lang="en-IN" smtClean="0"/>
              <a:t>28-01-2024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D2244-DF27-D8BA-D98E-16296978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Cyber talents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0575D-460E-FB27-6058-CF27D2F9D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C0D0F-E26C-42E0-ACA2-AA829D7AF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571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CD490-340B-5100-F1B3-8831D4CD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122828-0F65-256E-D979-649F1BCA3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5CBA42-A92B-CF2A-6A84-DAB9E6D5F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105BB-F8B8-206B-6B26-F8CD59536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B80A3-29A7-41FF-9F24-7F4ACCB0238C}" type="datetime1">
              <a:rPr lang="en-IN" smtClean="0"/>
              <a:t>28-01-2024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EDE74-FF6D-00CD-FCA7-2958E57A3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Cyber talents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17529-6422-F828-E4AD-ECBC3860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C0D0F-E26C-42E0-ACA2-AA829D7AF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320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1D2E2-B532-2192-9361-CC6136F8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F0F1A9-C102-514E-5355-24D6F5F73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91BBF-004C-36CA-65C8-10ACD9D49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0412-1701-42E2-B634-579CD4285D18}" type="datetime1">
              <a:rPr lang="en-IN" smtClean="0"/>
              <a:t>28-01-2024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EA72E-EB26-2C84-4650-016DFF233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Cyber talents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AD97A-1F26-351A-A944-B6E6185B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C0D0F-E26C-42E0-ACA2-AA829D7AF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789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77463E-920E-8E79-D5B0-E709BB060E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76906-90C7-2DDE-0C4E-320F9E0F7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6D0B6-B7D1-556C-AF1C-5D4543862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D396-7908-4D4D-9EE4-A15081920E88}" type="datetime1">
              <a:rPr lang="en-IN" smtClean="0"/>
              <a:t>28-01-2024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4D36C-7889-CED4-908E-AD5B144DA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Cyber talents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ECC4B-BED8-A776-ADDC-61EA86EDA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C0D0F-E26C-42E0-ACA2-AA829D7AF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753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119662-0622-8142-3699-6C08DDC2C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8A18C-9533-5DC5-0024-6BC67C8B8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D476C-0DD9-57A3-50A7-0A2475263F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C48532-BB83-47EB-A96A-31E533963D2E}" type="datetime1">
              <a:rPr lang="en-IN" smtClean="0"/>
              <a:t>28-01-2024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DEC00-AFF7-EFE6-104C-F8A05FEC7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Cyber talents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1323C-0F15-2595-8C03-36293E459D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C0D0F-E26C-42E0-ACA2-AA829D7AF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077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75FBCA8-E8F9-271B-1B82-BD131E1481E6}"/>
              </a:ext>
            </a:extLst>
          </p:cNvPr>
          <p:cNvSpPr txBox="1">
            <a:spLocks/>
          </p:cNvSpPr>
          <p:nvPr/>
        </p:nvSpPr>
        <p:spPr>
          <a:xfrm>
            <a:off x="-1" y="2120362"/>
            <a:ext cx="12192001" cy="2441128"/>
          </a:xfrm>
          <a:prstGeom prst="rect">
            <a:avLst/>
          </a:prstGeom>
          <a:solidFill>
            <a:srgbClr val="CC009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/>
                </a:solidFill>
              </a:rPr>
              <a:t> Log fields from various security devices for Log analysis</a:t>
            </a:r>
            <a:endParaRPr lang="en-IN" sz="5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43E58A7-A609-BD82-789D-06139D567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Cyber talents</a:t>
            </a:r>
          </a:p>
        </p:txBody>
      </p:sp>
    </p:spTree>
    <p:extLst>
      <p:ext uri="{BB962C8B-B14F-4D97-AF65-F5344CB8AC3E}">
        <p14:creationId xmlns:p14="http://schemas.microsoft.com/office/powerpoint/2010/main" val="1351696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690AE-1BAF-CAE2-391C-B894F097E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240971"/>
            <a:ext cx="12192000" cy="643345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en-US" sz="12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indent="0">
              <a:buNone/>
            </a:pPr>
            <a:br>
              <a:rPr lang="en-US" sz="1200" dirty="0"/>
            </a:b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B22184-E00B-8F5D-3EA0-FC4C96E1DE5B}"/>
              </a:ext>
            </a:extLst>
          </p:cNvPr>
          <p:cNvSpPr txBox="1">
            <a:spLocks/>
          </p:cNvSpPr>
          <p:nvPr/>
        </p:nvSpPr>
        <p:spPr>
          <a:xfrm>
            <a:off x="-1" y="-17452"/>
            <a:ext cx="12192000" cy="986282"/>
          </a:xfrm>
          <a:prstGeom prst="rect">
            <a:avLst/>
          </a:prstGeom>
          <a:solidFill>
            <a:srgbClr val="CC009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 dirty="0">
                <a:solidFill>
                  <a:schemeClr val="bg1"/>
                </a:solidFill>
                <a:latin typeface="Arial Black" panose="020B0A04020102020204" pitchFamily="34" charset="0"/>
              </a:rPr>
              <a:t>What Common log types SOC team collect Across infrastructure</a:t>
            </a:r>
            <a:endParaRPr lang="en-IN" sz="2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98A6439-9CFF-C6EC-61D6-FC56784B3D8D}"/>
              </a:ext>
            </a:extLst>
          </p:cNvPr>
          <p:cNvSpPr txBox="1">
            <a:spLocks/>
          </p:cNvSpPr>
          <p:nvPr/>
        </p:nvSpPr>
        <p:spPr>
          <a:xfrm>
            <a:off x="65314" y="1360713"/>
            <a:ext cx="12126685" cy="519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Söhne"/>
              </a:rPr>
              <a:t>Network logs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: These logs capture information about network traffic, such as IP addresses, ports, protocols, and packet payloads.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Söhne"/>
              </a:rPr>
              <a:t>Server logs: 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These logs capture information about server activity, such as user login/logout events, application usage, and system performance metrics.</a:t>
            </a:r>
            <a:endParaRPr lang="en-US" sz="1600" dirty="0">
              <a:solidFill>
                <a:srgbClr val="374151"/>
              </a:solidFill>
              <a:latin typeface="Söhne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Söhne"/>
              </a:rPr>
              <a:t>Application logs: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These logs capture information about specific application activity, such as user actions, error messages, or system events.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Söhne"/>
              </a:rPr>
              <a:t>Security logs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: These logs capture information about security-related events, such as firewall rule violations, intrusion detection alerts, or system access attempts.</a:t>
            </a:r>
            <a:endParaRPr lang="en-US" sz="1600" dirty="0">
              <a:solidFill>
                <a:srgbClr val="374151"/>
              </a:solidFill>
              <a:latin typeface="Söhne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Söhne"/>
              </a:rPr>
              <a:t>Audit logs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: These logs capture information about system changes or configuration modifications, such as user account creation/deletion, policy changes, or system updates.</a:t>
            </a:r>
            <a:endParaRPr lang="en-IN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F4C4C7-4F63-E35A-FAE8-5E704DD5A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Cyber talents</a:t>
            </a:r>
          </a:p>
        </p:txBody>
      </p:sp>
    </p:spTree>
    <p:extLst>
      <p:ext uri="{BB962C8B-B14F-4D97-AF65-F5344CB8AC3E}">
        <p14:creationId xmlns:p14="http://schemas.microsoft.com/office/powerpoint/2010/main" val="2134918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690AE-1BAF-CAE2-391C-B894F097E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240971"/>
            <a:ext cx="12192000" cy="5845629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n-US" sz="1800" b="1" i="0" dirty="0">
                <a:effectLst/>
                <a:latin typeface="Söhne"/>
              </a:rPr>
              <a:t>Source IP Address</a:t>
            </a:r>
            <a:r>
              <a:rPr lang="en-US" sz="1800" b="0" i="0" dirty="0">
                <a:effectLst/>
                <a:latin typeface="Söhne"/>
              </a:rPr>
              <a:t>: This field identifies the IP address of the computer or device that is attempting to access the network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effectLst/>
                <a:latin typeface="Söhne"/>
              </a:rPr>
              <a:t>Destination IP Address</a:t>
            </a:r>
            <a:r>
              <a:rPr lang="en-US" sz="1800" b="0" i="0" dirty="0">
                <a:effectLst/>
                <a:latin typeface="Söhne"/>
              </a:rPr>
              <a:t>: This field identifies the IP address of the computer or device that is being accessed. 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effectLst/>
                <a:latin typeface="Söhne"/>
              </a:rPr>
              <a:t>Source Port</a:t>
            </a:r>
            <a:r>
              <a:rPr lang="en-US" sz="1800" b="0" i="0" dirty="0">
                <a:effectLst/>
                <a:latin typeface="Söhne"/>
              </a:rPr>
              <a:t>: This field identifies the port number used by the source device to send the traffic. 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effectLst/>
                <a:latin typeface="Söhne"/>
              </a:rPr>
              <a:t>Destination Port</a:t>
            </a:r>
            <a:r>
              <a:rPr lang="en-US" sz="1800" b="0" i="0" dirty="0">
                <a:effectLst/>
                <a:latin typeface="Söhne"/>
              </a:rPr>
              <a:t>: This field identifies the port number used by the destination device to receive the traffic. 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effectLst/>
                <a:latin typeface="Söhne"/>
              </a:rPr>
              <a:t>Protocol</a:t>
            </a:r>
            <a:r>
              <a:rPr lang="en-US" sz="1800" b="0" i="0" dirty="0">
                <a:effectLst/>
                <a:latin typeface="Söhne"/>
              </a:rPr>
              <a:t>: This field identifies the protocol used by the traffic, such as TCP, UDP, or ICMP. 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Timestamp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This field indicates the date and time when the traffic was logged.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Event Type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This field identifies the type of event being logged, such as "allowed" or "blocked".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Source Country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This field identifies the country of origin of the traffic, which can be useful in identifying potential threats.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Destination Country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This field identifies the country of the destination of the traffic.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Bytes Sent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This field indicates the number of bytes sent in the traffic.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Bytes Received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This field indicates the number of bytes received in the traffic.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Protocol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This field identifies the protocol used by the traffic, such as TCP or UDP.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Action Taken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This field indicates the action taken by the firewall, such as "allowed" or "blocked".</a:t>
            </a:r>
          </a:p>
          <a:p>
            <a:pPr algn="l">
              <a:buFont typeface="+mj-lt"/>
              <a:buAutoNum type="arabicPeriod"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B22184-E00B-8F5D-3EA0-FC4C96E1DE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56137"/>
          </a:xfrm>
          <a:prstGeom prst="rect">
            <a:avLst/>
          </a:prstGeom>
          <a:solidFill>
            <a:srgbClr val="CC009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sz="28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IN" sz="2600" b="1" dirty="0">
                <a:solidFill>
                  <a:schemeClr val="bg1"/>
                </a:solidFill>
                <a:latin typeface="Arial Black" panose="020B0A04020102020204" pitchFamily="34" charset="0"/>
              </a:rPr>
              <a:t>Can you explain Important fields in Firewalls for analysis  </a:t>
            </a:r>
          </a:p>
          <a:p>
            <a:pPr algn="ctr"/>
            <a:endParaRPr lang="en-IN" sz="28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25EFBA-453E-2D90-C3D9-D6B015FE1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Cyber talents</a:t>
            </a:r>
          </a:p>
        </p:txBody>
      </p:sp>
    </p:spTree>
    <p:extLst>
      <p:ext uri="{BB962C8B-B14F-4D97-AF65-F5344CB8AC3E}">
        <p14:creationId xmlns:p14="http://schemas.microsoft.com/office/powerpoint/2010/main" val="295821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690AE-1BAF-CAE2-391C-B894F097E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240971"/>
            <a:ext cx="12192000" cy="5845629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Söhne"/>
              </a:rPr>
              <a:t>Timestamp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: This field indicates the date and time when the threat was detected.</a:t>
            </a:r>
          </a:p>
          <a:p>
            <a:pPr>
              <a:buFont typeface="+mj-lt"/>
              <a:buAutoNum type="arabicPeriod"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Söhne"/>
              </a:rPr>
              <a:t>Event Type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: This field identifies the type of event being logged, such as "detected" or "blocked".</a:t>
            </a:r>
          </a:p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Söhne"/>
              </a:rPr>
              <a:t>Source IP Address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: This field identifies the IP address of the computer or device that is the source of the threat.</a:t>
            </a:r>
          </a:p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Söhne"/>
              </a:rPr>
              <a:t>Destination IP Address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: This field identifies the IP address of the computer or device that is the target of the threat.</a:t>
            </a:r>
          </a:p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Söhne"/>
              </a:rPr>
              <a:t>Source Port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: This field identifies the port number used by the source device to send the traffic.</a:t>
            </a:r>
          </a:p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Söhne"/>
              </a:rPr>
              <a:t>Destination Port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: This field identifies the port number used by the destination device to receive the traffic.</a:t>
            </a:r>
          </a:p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Söhne"/>
              </a:rPr>
              <a:t>Signature ID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: This field identifies the unique identifier of the signature that triggered the IPS to take action.</a:t>
            </a:r>
          </a:p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Söhne"/>
              </a:rPr>
              <a:t>Signature Name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: This field provides a descriptive name for the signature that triggered the IPS to take action.</a:t>
            </a:r>
          </a:p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Söhne"/>
              </a:rPr>
              <a:t>Severity: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This field indicates the severity of the threat, which can range from low to critical.</a:t>
            </a:r>
          </a:p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Söhne"/>
              </a:rPr>
              <a:t>Action Taken: 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This field indicates the action taken by the IPS, such as "blocked" or "logged".</a:t>
            </a:r>
          </a:p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Söhne"/>
              </a:rPr>
              <a:t>Alert Type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: This field identifies the type of alert being generated, such as "intrusion detected" or "virus detected".</a:t>
            </a:r>
          </a:p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Söhne"/>
              </a:rPr>
              <a:t>Attack Method: 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This field provides information about the method used by the attacker to carry out the attack.</a:t>
            </a:r>
          </a:p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Söhne"/>
              </a:rPr>
              <a:t>Attack Target: 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This field provides information about the target of the attack, such as a specific application or protocol.</a:t>
            </a:r>
          </a:p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Söhne"/>
              </a:rPr>
              <a:t>Attack Type: 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This field provides information about the type of attack, such as a denial of service (DoS) attack or a buffer overflow attack.</a:t>
            </a:r>
          </a:p>
          <a:p>
            <a:pPr marL="0" indent="0" algn="l">
              <a:buNone/>
            </a:pPr>
            <a:endParaRPr lang="en-US" sz="12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indent="0">
              <a:buNone/>
            </a:pPr>
            <a:br>
              <a:rPr lang="en-US" sz="1200" dirty="0"/>
            </a:b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B22184-E00B-8F5D-3EA0-FC4C96E1DE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56137"/>
          </a:xfrm>
          <a:prstGeom prst="rect">
            <a:avLst/>
          </a:prstGeom>
          <a:solidFill>
            <a:srgbClr val="CC009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sz="2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IN" sz="2300" b="1" dirty="0">
                <a:solidFill>
                  <a:schemeClr val="bg1"/>
                </a:solidFill>
                <a:latin typeface="Arial Black" panose="020B0A04020102020204" pitchFamily="34" charset="0"/>
              </a:rPr>
              <a:t>Can you explain Important fields in IPS (intrusion Prevention system)   </a:t>
            </a:r>
          </a:p>
          <a:p>
            <a:pPr algn="ctr"/>
            <a:endParaRPr lang="en-IN" sz="28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848A8B4-9A5D-90A7-47CB-FDBA21B5D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Cyber talents</a:t>
            </a:r>
          </a:p>
        </p:txBody>
      </p:sp>
    </p:spTree>
    <p:extLst>
      <p:ext uri="{BB962C8B-B14F-4D97-AF65-F5344CB8AC3E}">
        <p14:creationId xmlns:p14="http://schemas.microsoft.com/office/powerpoint/2010/main" val="264128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690AE-1BAF-CAE2-391C-B894F097E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240971"/>
            <a:ext cx="12192000" cy="6433458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n-US" sz="1500" b="1" i="0" dirty="0">
                <a:solidFill>
                  <a:srgbClr val="374151"/>
                </a:solidFill>
                <a:effectLst/>
                <a:latin typeface="Söhne"/>
              </a:rPr>
              <a:t>Timestamp</a:t>
            </a:r>
            <a:r>
              <a:rPr lang="en-US" sz="1500" b="0" i="0" dirty="0">
                <a:solidFill>
                  <a:srgbClr val="374151"/>
                </a:solidFill>
                <a:effectLst/>
                <a:latin typeface="Söhne"/>
              </a:rPr>
              <a:t>: This field indicates the date and time when the event was logged.</a:t>
            </a:r>
          </a:p>
          <a:p>
            <a:pPr algn="l">
              <a:buFont typeface="+mj-lt"/>
              <a:buAutoNum type="arabicPeriod"/>
            </a:pPr>
            <a:r>
              <a:rPr lang="en-US" sz="1500" b="1" i="0" dirty="0">
                <a:solidFill>
                  <a:srgbClr val="374151"/>
                </a:solidFill>
                <a:effectLst/>
                <a:latin typeface="Söhne"/>
              </a:rPr>
              <a:t>Event Type</a:t>
            </a:r>
            <a:r>
              <a:rPr lang="en-US" sz="1500" b="0" i="0" dirty="0">
                <a:solidFill>
                  <a:srgbClr val="374151"/>
                </a:solidFill>
                <a:effectLst/>
                <a:latin typeface="Söhne"/>
              </a:rPr>
              <a:t>: This field identifies the type of event being logged, such as "process execution" or "file modification".</a:t>
            </a:r>
          </a:p>
          <a:p>
            <a:pPr algn="l">
              <a:buFont typeface="+mj-lt"/>
              <a:buAutoNum type="arabicPeriod"/>
            </a:pPr>
            <a:r>
              <a:rPr lang="en-US" sz="1500" b="1" i="0" dirty="0">
                <a:solidFill>
                  <a:srgbClr val="374151"/>
                </a:solidFill>
                <a:effectLst/>
                <a:latin typeface="Söhne"/>
              </a:rPr>
              <a:t>Process Name</a:t>
            </a:r>
            <a:r>
              <a:rPr lang="en-US" sz="1500" b="0" i="0" dirty="0">
                <a:solidFill>
                  <a:srgbClr val="374151"/>
                </a:solidFill>
                <a:effectLst/>
                <a:latin typeface="Söhne"/>
              </a:rPr>
              <a:t>: This field identifies the name of the process or application that is being executed or modified.</a:t>
            </a:r>
          </a:p>
          <a:p>
            <a:pPr algn="l">
              <a:buFont typeface="+mj-lt"/>
              <a:buAutoNum type="arabicPeriod"/>
            </a:pPr>
            <a:r>
              <a:rPr lang="en-US" sz="1500" b="1" i="0" dirty="0">
                <a:solidFill>
                  <a:srgbClr val="374151"/>
                </a:solidFill>
                <a:effectLst/>
                <a:latin typeface="Söhne"/>
              </a:rPr>
              <a:t>Process ID</a:t>
            </a:r>
            <a:r>
              <a:rPr lang="en-US" sz="1500" b="0" i="0" dirty="0">
                <a:solidFill>
                  <a:srgbClr val="374151"/>
                </a:solidFill>
                <a:effectLst/>
                <a:latin typeface="Söhne"/>
              </a:rPr>
              <a:t>: This field provides a unique identifier for the process or application.</a:t>
            </a:r>
          </a:p>
          <a:p>
            <a:pPr algn="l">
              <a:buFont typeface="+mj-lt"/>
              <a:buAutoNum type="arabicPeriod"/>
            </a:pPr>
            <a:r>
              <a:rPr lang="en-US" sz="1500" b="1" i="0" dirty="0">
                <a:solidFill>
                  <a:srgbClr val="374151"/>
                </a:solidFill>
                <a:effectLst/>
                <a:latin typeface="Söhne"/>
              </a:rPr>
              <a:t>User</a:t>
            </a:r>
            <a:r>
              <a:rPr lang="en-US" sz="1500" b="0" i="0" dirty="0">
                <a:solidFill>
                  <a:srgbClr val="374151"/>
                </a:solidFill>
                <a:effectLst/>
                <a:latin typeface="Söhne"/>
              </a:rPr>
              <a:t>: This field identifies the user account that is associated with the process or application.</a:t>
            </a:r>
          </a:p>
          <a:p>
            <a:pPr algn="l">
              <a:buFont typeface="+mj-lt"/>
              <a:buAutoNum type="arabicPeriod"/>
            </a:pPr>
            <a:r>
              <a:rPr lang="en-US" sz="1500" b="1" i="0" dirty="0">
                <a:solidFill>
                  <a:srgbClr val="374151"/>
                </a:solidFill>
                <a:effectLst/>
                <a:latin typeface="Söhne"/>
              </a:rPr>
              <a:t>Source IP Address</a:t>
            </a:r>
            <a:r>
              <a:rPr lang="en-US" sz="1500" b="0" i="0" dirty="0">
                <a:solidFill>
                  <a:srgbClr val="374151"/>
                </a:solidFill>
                <a:effectLst/>
                <a:latin typeface="Söhne"/>
              </a:rPr>
              <a:t>: This field identifies the IP address of the computer or device that is the source of the event.</a:t>
            </a:r>
          </a:p>
          <a:p>
            <a:pPr algn="l">
              <a:buFont typeface="+mj-lt"/>
              <a:buAutoNum type="arabicPeriod"/>
            </a:pPr>
            <a:r>
              <a:rPr lang="en-US" sz="1500" b="1" i="0" dirty="0">
                <a:solidFill>
                  <a:srgbClr val="374151"/>
                </a:solidFill>
                <a:effectLst/>
                <a:latin typeface="Söhne"/>
              </a:rPr>
              <a:t>Destination IP Address</a:t>
            </a:r>
            <a:r>
              <a:rPr lang="en-US" sz="1500" b="0" i="0" dirty="0">
                <a:solidFill>
                  <a:srgbClr val="374151"/>
                </a:solidFill>
                <a:effectLst/>
                <a:latin typeface="Söhne"/>
              </a:rPr>
              <a:t>: This field identifies the IP address of the computer or device that is the target of the event.</a:t>
            </a:r>
          </a:p>
          <a:p>
            <a:pPr algn="l">
              <a:buFont typeface="+mj-lt"/>
              <a:buAutoNum type="arabicPeriod"/>
            </a:pPr>
            <a:r>
              <a:rPr lang="en-US" sz="1500" b="1" i="0" dirty="0">
                <a:solidFill>
                  <a:srgbClr val="374151"/>
                </a:solidFill>
                <a:effectLst/>
                <a:latin typeface="Söhne"/>
              </a:rPr>
              <a:t>File Name</a:t>
            </a:r>
            <a:r>
              <a:rPr lang="en-US" sz="1500" b="0" i="0" dirty="0">
                <a:solidFill>
                  <a:srgbClr val="374151"/>
                </a:solidFill>
                <a:effectLst/>
                <a:latin typeface="Söhne"/>
              </a:rPr>
              <a:t>: This field identifies the name of the file that is being modified or executed.</a:t>
            </a:r>
          </a:p>
          <a:p>
            <a:pPr algn="l">
              <a:buFont typeface="+mj-lt"/>
              <a:buAutoNum type="arabicPeriod"/>
            </a:pPr>
            <a:r>
              <a:rPr lang="en-US" sz="1500" b="1" i="0" dirty="0">
                <a:solidFill>
                  <a:srgbClr val="374151"/>
                </a:solidFill>
                <a:effectLst/>
                <a:latin typeface="Söhne"/>
              </a:rPr>
              <a:t>File Path</a:t>
            </a:r>
            <a:r>
              <a:rPr lang="en-US" sz="1500" b="0" i="0" dirty="0">
                <a:solidFill>
                  <a:srgbClr val="374151"/>
                </a:solidFill>
                <a:effectLst/>
                <a:latin typeface="Söhne"/>
              </a:rPr>
              <a:t>: This field identifies the path to the file that is being modified or executed.</a:t>
            </a:r>
          </a:p>
          <a:p>
            <a:pPr algn="l">
              <a:buFont typeface="+mj-lt"/>
              <a:buAutoNum type="arabicPeriod"/>
            </a:pPr>
            <a:r>
              <a:rPr lang="en-US" sz="1500" b="1" i="0" dirty="0">
                <a:solidFill>
                  <a:srgbClr val="374151"/>
                </a:solidFill>
                <a:effectLst/>
                <a:latin typeface="Söhne"/>
              </a:rPr>
              <a:t>Hash Value</a:t>
            </a:r>
            <a:r>
              <a:rPr lang="en-US" sz="1500" b="0" i="0" dirty="0">
                <a:solidFill>
                  <a:srgbClr val="374151"/>
                </a:solidFill>
                <a:effectLst/>
                <a:latin typeface="Söhne"/>
              </a:rPr>
              <a:t>: This field provides a unique identifier for the file based on its cryptographic hash value.</a:t>
            </a:r>
          </a:p>
          <a:p>
            <a:pPr algn="l">
              <a:buFont typeface="+mj-lt"/>
              <a:buAutoNum type="arabicPeriod"/>
            </a:pPr>
            <a:r>
              <a:rPr lang="en-US" sz="1500" b="1" i="0" dirty="0">
                <a:solidFill>
                  <a:srgbClr val="374151"/>
                </a:solidFill>
                <a:effectLst/>
                <a:latin typeface="Söhne"/>
              </a:rPr>
              <a:t>Action Taken</a:t>
            </a:r>
            <a:r>
              <a:rPr lang="en-US" sz="1500" b="0" i="0" dirty="0">
                <a:solidFill>
                  <a:srgbClr val="374151"/>
                </a:solidFill>
                <a:effectLst/>
                <a:latin typeface="Söhne"/>
              </a:rPr>
              <a:t>: This field indicates the action taken by the EDR system in response to the event, such as "blocked" or "quarantined".</a:t>
            </a:r>
          </a:p>
          <a:p>
            <a:pPr algn="l">
              <a:buFont typeface="+mj-lt"/>
              <a:buAutoNum type="arabicPeriod"/>
            </a:pPr>
            <a:r>
              <a:rPr lang="en-US" sz="1500" b="1" i="0" dirty="0">
                <a:solidFill>
                  <a:srgbClr val="374151"/>
                </a:solidFill>
                <a:effectLst/>
                <a:latin typeface="Söhne"/>
              </a:rPr>
              <a:t>Threat Type</a:t>
            </a:r>
            <a:r>
              <a:rPr lang="en-US" sz="1500" b="0" i="0" dirty="0">
                <a:solidFill>
                  <a:srgbClr val="374151"/>
                </a:solidFill>
                <a:effectLst/>
                <a:latin typeface="Söhne"/>
              </a:rPr>
              <a:t>: This field identifies the type of threat that is associated with the event, such as malware or a suspicious process.</a:t>
            </a:r>
          </a:p>
          <a:p>
            <a:pPr algn="l">
              <a:buFont typeface="+mj-lt"/>
              <a:buAutoNum type="arabicPeriod"/>
            </a:pPr>
            <a:r>
              <a:rPr lang="en-US" sz="1500" b="1" i="0" dirty="0">
                <a:solidFill>
                  <a:srgbClr val="374151"/>
                </a:solidFill>
                <a:effectLst/>
                <a:latin typeface="Söhne"/>
              </a:rPr>
              <a:t>Threat Name</a:t>
            </a:r>
            <a:r>
              <a:rPr lang="en-US" sz="1500" b="0" i="0" dirty="0">
                <a:solidFill>
                  <a:srgbClr val="374151"/>
                </a:solidFill>
                <a:effectLst/>
                <a:latin typeface="Söhne"/>
              </a:rPr>
              <a:t>: This field provides a descriptive name for the threat that is associated with the event.</a:t>
            </a:r>
          </a:p>
          <a:p>
            <a:pPr algn="l">
              <a:buFont typeface="+mj-lt"/>
              <a:buAutoNum type="arabicPeriod"/>
            </a:pPr>
            <a:r>
              <a:rPr lang="en-US" sz="1500" b="1" i="0" dirty="0">
                <a:solidFill>
                  <a:srgbClr val="374151"/>
                </a:solidFill>
                <a:effectLst/>
                <a:latin typeface="Söhne"/>
              </a:rPr>
              <a:t>Detection Method</a:t>
            </a:r>
            <a:r>
              <a:rPr lang="en-US" sz="1500" b="0" i="0" dirty="0">
                <a:solidFill>
                  <a:srgbClr val="374151"/>
                </a:solidFill>
                <a:effectLst/>
                <a:latin typeface="Söhne"/>
              </a:rPr>
              <a:t>: This field identifies the method used by the EDR system to detect the threat, such as behavior monitoring or signature-based detection.</a:t>
            </a:r>
          </a:p>
          <a:p>
            <a:pPr algn="l">
              <a:buFont typeface="+mj-lt"/>
              <a:buAutoNum type="arabicPeriod"/>
            </a:pPr>
            <a:r>
              <a:rPr lang="en-US" sz="1500" b="1" i="0" dirty="0">
                <a:solidFill>
                  <a:srgbClr val="374151"/>
                </a:solidFill>
                <a:effectLst/>
                <a:latin typeface="Söhne"/>
              </a:rPr>
              <a:t>Severity</a:t>
            </a:r>
            <a:r>
              <a:rPr lang="en-US" sz="1500" b="0" i="0" dirty="0">
                <a:solidFill>
                  <a:srgbClr val="374151"/>
                </a:solidFill>
                <a:effectLst/>
                <a:latin typeface="Söhne"/>
              </a:rPr>
              <a:t>: This field indicates the severity of the event, which can range from low to critical.</a:t>
            </a:r>
          </a:p>
          <a:p>
            <a:pPr marL="0" indent="0" algn="l">
              <a:buNone/>
            </a:pPr>
            <a:endParaRPr lang="en-US" sz="12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indent="0">
              <a:buNone/>
            </a:pPr>
            <a:br>
              <a:rPr lang="en-US" sz="1200" dirty="0"/>
            </a:b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B22184-E00B-8F5D-3EA0-FC4C96E1DE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56137"/>
          </a:xfrm>
          <a:prstGeom prst="rect">
            <a:avLst/>
          </a:prstGeom>
          <a:solidFill>
            <a:srgbClr val="CC009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Can you explain Important fields in EDR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32D15D-9FBE-BE11-A300-1E7E260B4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Cyber talents</a:t>
            </a:r>
          </a:p>
        </p:txBody>
      </p:sp>
    </p:spTree>
    <p:extLst>
      <p:ext uri="{BB962C8B-B14F-4D97-AF65-F5344CB8AC3E}">
        <p14:creationId xmlns:p14="http://schemas.microsoft.com/office/powerpoint/2010/main" val="4210487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690AE-1BAF-CAE2-391C-B894F097E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240971"/>
            <a:ext cx="12192000" cy="643345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en-US" sz="12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indent="0">
              <a:buNone/>
            </a:pPr>
            <a:br>
              <a:rPr lang="en-US" sz="1200" dirty="0"/>
            </a:b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en-IN" dirty="0"/>
              <a:t>c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B22184-E00B-8F5D-3EA0-FC4C96E1DE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56137"/>
          </a:xfrm>
          <a:prstGeom prst="rect">
            <a:avLst/>
          </a:prstGeom>
          <a:solidFill>
            <a:srgbClr val="CC009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Can you explain Important fields in Email gateway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2CD2BEE-F985-7E4E-6E02-529442F562BA}"/>
              </a:ext>
            </a:extLst>
          </p:cNvPr>
          <p:cNvSpPr txBox="1">
            <a:spLocks/>
          </p:cNvSpPr>
          <p:nvPr/>
        </p:nvSpPr>
        <p:spPr>
          <a:xfrm>
            <a:off x="152401" y="1393371"/>
            <a:ext cx="12192000" cy="56496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Date/time stamp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Records the date and time the email was sent, received or processed.</a:t>
            </a:r>
          </a:p>
          <a:p>
            <a:pPr algn="l">
              <a:buFont typeface="+mj-lt"/>
              <a:buAutoNum type="arabicPeriod"/>
            </a:pPr>
            <a:endParaRPr lang="en-US" sz="18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Sender and recipient addresses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Provides information about the email's origin and destination.</a:t>
            </a:r>
          </a:p>
          <a:p>
            <a:pPr marL="0" indent="0" algn="l">
              <a:buNone/>
            </a:pPr>
            <a:endParaRPr lang="en-US" sz="18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Message ID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Unique identifier for each email message.</a:t>
            </a:r>
          </a:p>
          <a:p>
            <a:pPr algn="l">
              <a:buFont typeface="+mj-lt"/>
              <a:buAutoNum type="arabicPeriod"/>
            </a:pPr>
            <a:endParaRPr lang="en-US" sz="18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Status </a:t>
            </a:r>
            <a:r>
              <a:rPr lang="en-US" sz="1800" b="1" i="0" dirty="0" err="1">
                <a:solidFill>
                  <a:srgbClr val="374151"/>
                </a:solidFill>
                <a:effectLst/>
                <a:latin typeface="Söhne"/>
              </a:rPr>
              <a:t>cocdes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Indicates the status of an email delivery attempt.</a:t>
            </a:r>
          </a:p>
          <a:p>
            <a:pPr algn="l">
              <a:buFont typeface="+mj-lt"/>
              <a:buAutoNum type="arabicPeriod"/>
            </a:pPr>
            <a:endParaRPr lang="en-US" sz="18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Subject line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Provides information about the content of the email.</a:t>
            </a:r>
          </a:p>
          <a:p>
            <a:pPr algn="l">
              <a:buFont typeface="+mj-lt"/>
              <a:buAutoNum type="arabicPeriod"/>
            </a:pPr>
            <a:endParaRPr lang="en-US" sz="18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Message size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Records the size of the email message in bytes.</a:t>
            </a:r>
          </a:p>
          <a:p>
            <a:pPr algn="l">
              <a:buFont typeface="+mj-lt"/>
              <a:buAutoNum type="arabicPeriod"/>
            </a:pPr>
            <a:endParaRPr lang="en-US" sz="18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SMTP logs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Records the details of the email delivery process, including SMTP commands, response codes, and any errors or warnings</a:t>
            </a:r>
            <a:r>
              <a:rPr lang="en-US" sz="1000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rgbClr val="374151"/>
              </a:solidFill>
              <a:latin typeface="Söhne"/>
            </a:endParaRPr>
          </a:p>
          <a:p>
            <a:pPr marL="0" indent="0">
              <a:buFont typeface="Arial" panose="020B0604020202020204" pitchFamily="34" charset="0"/>
              <a:buNone/>
            </a:pPr>
            <a:br>
              <a:rPr lang="en-US" sz="1200" dirty="0"/>
            </a:br>
            <a:endParaRPr lang="en-US" dirty="0">
              <a:solidFill>
                <a:srgbClr val="374151"/>
              </a:solidFill>
              <a:latin typeface="Söhne"/>
            </a:endParaRPr>
          </a:p>
          <a:p>
            <a:endParaRPr lang="en-IN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A43A22E-E761-83DD-E0B4-0A97000A3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Cyber talents</a:t>
            </a:r>
          </a:p>
        </p:txBody>
      </p:sp>
    </p:spTree>
    <p:extLst>
      <p:ext uri="{BB962C8B-B14F-4D97-AF65-F5344CB8AC3E}">
        <p14:creationId xmlns:p14="http://schemas.microsoft.com/office/powerpoint/2010/main" val="2516044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690AE-1BAF-CAE2-391C-B894F097E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240971"/>
            <a:ext cx="12192000" cy="643345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en-US" sz="12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indent="0">
              <a:buNone/>
            </a:pPr>
            <a:br>
              <a:rPr lang="en-US" sz="1200" dirty="0"/>
            </a:b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B22184-E00B-8F5D-3EA0-FC4C96E1DE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56137"/>
          </a:xfrm>
          <a:prstGeom prst="rect">
            <a:avLst/>
          </a:prstGeom>
          <a:solidFill>
            <a:srgbClr val="CC009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Can you List /explain Important fields in Proxy device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7CAEA1F-FDC3-8ADC-C60B-8531C07C8BAE}"/>
              </a:ext>
            </a:extLst>
          </p:cNvPr>
          <p:cNvSpPr txBox="1">
            <a:spLocks/>
          </p:cNvSpPr>
          <p:nvPr/>
        </p:nvSpPr>
        <p:spPr>
          <a:xfrm>
            <a:off x="152400" y="1393371"/>
            <a:ext cx="13977257" cy="6365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Timestamp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The time and date the request was made to the proxy.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Client IP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The IP address of the device that made the request to the proxy.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Request URL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The URL of the website or resource requested by the client.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Destination IP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The IP address of the server hosting the website or resource requested by the client.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User Agent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The user agent string identifies the device and web browser used by the client.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HTTP Response Code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The HTTP status code returned by the server in response to the request.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Bytes transferred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The number of bytes transferred in the request and response.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Content Type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The type of content returned by the server, such as text/html, image/jpeg, etc.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Referrer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The URL of the website that referred the client to the requested resource.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Category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The category of the website or resource, as determined by the proxy device's content filtering policies.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Action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: The action taken by the proxy device in response to the request, such as allow, block, or log.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rgbClr val="374151"/>
              </a:solidFill>
              <a:latin typeface="Söhne"/>
            </a:endParaRPr>
          </a:p>
          <a:p>
            <a:pPr marL="0" indent="0">
              <a:buFont typeface="Arial" panose="020B0604020202020204" pitchFamily="34" charset="0"/>
              <a:buNone/>
            </a:pPr>
            <a:br>
              <a:rPr lang="en-US" sz="1200" dirty="0"/>
            </a:br>
            <a:endParaRPr lang="en-US" dirty="0">
              <a:solidFill>
                <a:srgbClr val="374151"/>
              </a:solidFill>
              <a:latin typeface="Söhne"/>
            </a:endParaRPr>
          </a:p>
          <a:p>
            <a:endParaRPr lang="en-IN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1BDAD1-81A9-A8CC-61DA-CFC53826E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Cyber talents</a:t>
            </a:r>
          </a:p>
        </p:txBody>
      </p:sp>
    </p:spTree>
    <p:extLst>
      <p:ext uri="{BB962C8B-B14F-4D97-AF65-F5344CB8AC3E}">
        <p14:creationId xmlns:p14="http://schemas.microsoft.com/office/powerpoint/2010/main" val="3421063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690AE-1BAF-CAE2-391C-B894F097E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240971"/>
            <a:ext cx="12192000" cy="643345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en-US" sz="12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indent="0">
              <a:buNone/>
            </a:pPr>
            <a:br>
              <a:rPr lang="en-US" sz="1200" dirty="0"/>
            </a:b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B22184-E00B-8F5D-3EA0-FC4C96E1DE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56137"/>
          </a:xfrm>
          <a:prstGeom prst="rect">
            <a:avLst/>
          </a:prstGeom>
          <a:solidFill>
            <a:srgbClr val="CC009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600" b="1" dirty="0">
                <a:solidFill>
                  <a:schemeClr val="bg1"/>
                </a:solidFill>
                <a:latin typeface="Arial Black" panose="020B0A04020102020204" pitchFamily="34" charset="0"/>
              </a:rPr>
              <a:t>What logs SOC team collect from AWS Cloud for analysis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98A6439-9CFF-C6EC-61D6-FC56784B3D8D}"/>
              </a:ext>
            </a:extLst>
          </p:cNvPr>
          <p:cNvSpPr txBox="1">
            <a:spLocks/>
          </p:cNvSpPr>
          <p:nvPr/>
        </p:nvSpPr>
        <p:spPr>
          <a:xfrm>
            <a:off x="76200" y="1360713"/>
            <a:ext cx="11691257" cy="519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IN" sz="2400" b="0" i="0" dirty="0">
                <a:solidFill>
                  <a:srgbClr val="374151"/>
                </a:solidFill>
                <a:effectLst/>
                <a:latin typeface="Söhne"/>
              </a:rPr>
              <a:t>CloudTrail logs (for API calls),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0" i="0" dirty="0">
                <a:solidFill>
                  <a:srgbClr val="374151"/>
                </a:solidFill>
                <a:effectLst/>
                <a:latin typeface="Söhne"/>
              </a:rPr>
              <a:t>VPC Flow Logs (for network traffic),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0" i="0" dirty="0">
                <a:solidFill>
                  <a:srgbClr val="374151"/>
                </a:solidFill>
                <a:effectLst/>
                <a:latin typeface="Söhne"/>
              </a:rPr>
              <a:t>AWS Config Logs (for resource configuration),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0" i="0" dirty="0">
                <a:solidFill>
                  <a:srgbClr val="374151"/>
                </a:solidFill>
                <a:effectLst/>
                <a:latin typeface="Söhne"/>
              </a:rPr>
              <a:t> CloudWatch Logs (for monitoring and logging),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0" i="0" dirty="0">
                <a:solidFill>
                  <a:srgbClr val="374151"/>
                </a:solidFill>
                <a:effectLst/>
                <a:latin typeface="Söhne"/>
              </a:rPr>
              <a:t> GuardDuty Logs (for detecting potential security threats).</a:t>
            </a:r>
          </a:p>
          <a:p>
            <a:pPr marL="514350" indent="-514350">
              <a:buFont typeface="+mj-lt"/>
              <a:buAutoNum type="arabicPeriod"/>
            </a:pPr>
            <a:endParaRPr lang="en-IN" sz="2400" dirty="0">
              <a:solidFill>
                <a:srgbClr val="374151"/>
              </a:solidFill>
              <a:latin typeface="Söhne"/>
            </a:endParaRPr>
          </a:p>
          <a:p>
            <a:pPr marL="0" indent="0">
              <a:buNone/>
            </a:pPr>
            <a:r>
              <a:rPr lang="en-IN" sz="24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endParaRPr lang="en-IN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C83402-FBC4-9E4B-B7B6-3D64C9B29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Cyber talents</a:t>
            </a:r>
          </a:p>
        </p:txBody>
      </p:sp>
    </p:spTree>
    <p:extLst>
      <p:ext uri="{BB962C8B-B14F-4D97-AF65-F5344CB8AC3E}">
        <p14:creationId xmlns:p14="http://schemas.microsoft.com/office/powerpoint/2010/main" val="4154414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690AE-1BAF-CAE2-391C-B894F097E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240971"/>
            <a:ext cx="12192000" cy="643345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en-US" sz="12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indent="0">
              <a:buNone/>
            </a:pPr>
            <a:br>
              <a:rPr lang="en-US" sz="1200" dirty="0"/>
            </a:b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3DDA5E-7A7C-E26E-839E-53D5F606B39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56137"/>
          </a:xfrm>
          <a:prstGeom prst="rect">
            <a:avLst/>
          </a:prstGeom>
          <a:solidFill>
            <a:srgbClr val="CC009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What logs SOC team collect from Azure Cloud for analysis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B653C6-57C4-418F-8C9A-476425281061}"/>
              </a:ext>
            </a:extLst>
          </p:cNvPr>
          <p:cNvSpPr txBox="1"/>
          <p:nvPr/>
        </p:nvSpPr>
        <p:spPr>
          <a:xfrm>
            <a:off x="87086" y="1828800"/>
            <a:ext cx="1197428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400" b="0" i="0" dirty="0">
                <a:solidFill>
                  <a:srgbClr val="374151"/>
                </a:solidFill>
                <a:effectLst/>
                <a:latin typeface="Söhne"/>
              </a:rPr>
              <a:t>Azure Activity Logs (for auditing management operations)</a:t>
            </a:r>
          </a:p>
          <a:p>
            <a:pPr marL="342900" indent="-342900">
              <a:buFont typeface="+mj-lt"/>
              <a:buAutoNum type="arabicPeriod"/>
            </a:pPr>
            <a:endParaRPr lang="en-IN" sz="24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400" b="0" i="0" dirty="0">
                <a:solidFill>
                  <a:srgbClr val="374151"/>
                </a:solidFill>
                <a:effectLst/>
                <a:latin typeface="Söhne"/>
              </a:rPr>
              <a:t>Azure defender for cloud Logs (for security event and vulnerability detection),</a:t>
            </a:r>
          </a:p>
          <a:p>
            <a:pPr marL="342900" indent="-342900">
              <a:buFont typeface="+mj-lt"/>
              <a:buAutoNum type="arabicPeriod"/>
            </a:pPr>
            <a:endParaRPr lang="en-IN" sz="24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400" b="0" i="0" dirty="0">
                <a:solidFill>
                  <a:srgbClr val="374151"/>
                </a:solidFill>
                <a:effectLst/>
                <a:latin typeface="Söhne"/>
              </a:rPr>
              <a:t> Azure Network Watcher Logs (for network monitoring and diagnostics), </a:t>
            </a:r>
          </a:p>
          <a:p>
            <a:pPr marL="342900" indent="-342900">
              <a:buFont typeface="+mj-lt"/>
              <a:buAutoNum type="arabicPeriod"/>
            </a:pPr>
            <a:endParaRPr lang="en-IN" sz="24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400" b="0" i="0" dirty="0">
                <a:solidFill>
                  <a:srgbClr val="374151"/>
                </a:solidFill>
                <a:effectLst/>
                <a:latin typeface="Söhne"/>
              </a:rPr>
              <a:t>Azure Application Gateway Logs (for performance and security of web traffic load balancing),</a:t>
            </a:r>
          </a:p>
          <a:p>
            <a:pPr marL="342900" indent="-342900">
              <a:buFont typeface="+mj-lt"/>
              <a:buAutoNum type="arabicPeriod"/>
            </a:pPr>
            <a:endParaRPr lang="en-IN" sz="2400" dirty="0">
              <a:solidFill>
                <a:srgbClr val="374151"/>
              </a:solidFill>
              <a:latin typeface="Söhne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400" b="0" i="0" dirty="0">
                <a:solidFill>
                  <a:srgbClr val="374151"/>
                </a:solidFill>
                <a:effectLst/>
                <a:latin typeface="Söhne"/>
              </a:rPr>
              <a:t>Azure Sentinel Logs (for a holistic view of security events). </a:t>
            </a:r>
            <a:endParaRPr lang="en-IN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04C157-00E5-A595-50AC-FDCFD0193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Cyber talents</a:t>
            </a:r>
          </a:p>
        </p:txBody>
      </p:sp>
    </p:spTree>
    <p:extLst>
      <p:ext uri="{BB962C8B-B14F-4D97-AF65-F5344CB8AC3E}">
        <p14:creationId xmlns:p14="http://schemas.microsoft.com/office/powerpoint/2010/main" val="3972062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690AE-1BAF-CAE2-391C-B894F097E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240971"/>
            <a:ext cx="12192000" cy="643345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en-US" sz="12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indent="0">
              <a:buNone/>
            </a:pPr>
            <a:br>
              <a:rPr lang="en-US" sz="1200" dirty="0"/>
            </a:b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B22184-E00B-8F5D-3EA0-FC4C96E1DE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56137"/>
          </a:xfrm>
          <a:prstGeom prst="rect">
            <a:avLst/>
          </a:prstGeom>
          <a:solidFill>
            <a:srgbClr val="CC009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600" b="1" dirty="0">
                <a:solidFill>
                  <a:schemeClr val="bg1"/>
                </a:solidFill>
                <a:latin typeface="Arial Black" panose="020B0A04020102020204" pitchFamily="34" charset="0"/>
              </a:rPr>
              <a:t>What logs SOC team collect from Google Cloud for analysis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98A6439-9CFF-C6EC-61D6-FC56784B3D8D}"/>
              </a:ext>
            </a:extLst>
          </p:cNvPr>
          <p:cNvSpPr txBox="1">
            <a:spLocks/>
          </p:cNvSpPr>
          <p:nvPr/>
        </p:nvSpPr>
        <p:spPr>
          <a:xfrm>
            <a:off x="76200" y="1360713"/>
            <a:ext cx="11691257" cy="519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IN" sz="2000" b="0" i="0" dirty="0">
                <a:solidFill>
                  <a:srgbClr val="374151"/>
                </a:solidFill>
                <a:effectLst/>
                <a:latin typeface="Söhne"/>
              </a:rPr>
              <a:t>Google Cloud Audit Logs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Google Cloud VPC Flow Logs</a:t>
            </a:r>
            <a:endParaRPr lang="en-IN" sz="2000" dirty="0">
              <a:solidFill>
                <a:srgbClr val="374151"/>
              </a:solidFill>
              <a:latin typeface="Söhne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Google Cloud Firewall Rules Logs</a:t>
            </a:r>
            <a:endParaRPr lang="en-IN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sz="2000" b="0" i="0" dirty="0">
                <a:solidFill>
                  <a:srgbClr val="374151"/>
                </a:solidFill>
                <a:effectLst/>
                <a:latin typeface="Söhne"/>
              </a:rPr>
              <a:t>Google Cloud Storage Logs</a:t>
            </a:r>
            <a:endParaRPr lang="en-IN" sz="2000" dirty="0">
              <a:solidFill>
                <a:srgbClr val="374151"/>
              </a:solidFill>
              <a:latin typeface="Söhne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sz="2000" b="0" i="0" dirty="0">
                <a:solidFill>
                  <a:srgbClr val="374151"/>
                </a:solidFill>
                <a:effectLst/>
                <a:latin typeface="Söhne"/>
              </a:rPr>
              <a:t>Google Cloud DNS Logs</a:t>
            </a:r>
            <a:endParaRPr lang="en-IN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40C92E-02A5-8D99-0639-4203C8E6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Cyber talents</a:t>
            </a:r>
          </a:p>
        </p:txBody>
      </p:sp>
    </p:spTree>
    <p:extLst>
      <p:ext uri="{BB962C8B-B14F-4D97-AF65-F5344CB8AC3E}">
        <p14:creationId xmlns:p14="http://schemas.microsoft.com/office/powerpoint/2010/main" val="1015589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690AE-1BAF-CAE2-391C-B894F097E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240971"/>
            <a:ext cx="12192000" cy="643345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en-US" sz="12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indent="0">
              <a:buNone/>
            </a:pPr>
            <a:br>
              <a:rPr lang="en-US" sz="1200" dirty="0"/>
            </a:b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B22184-E00B-8F5D-3EA0-FC4C96E1DE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56137"/>
          </a:xfrm>
          <a:prstGeom prst="rect">
            <a:avLst/>
          </a:prstGeom>
          <a:solidFill>
            <a:srgbClr val="CC009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600" b="1" dirty="0">
                <a:solidFill>
                  <a:schemeClr val="bg1"/>
                </a:solidFill>
                <a:latin typeface="Arial Black" panose="020B0A04020102020204" pitchFamily="34" charset="0"/>
              </a:rPr>
              <a:t>What are logging levels in network devices</a:t>
            </a:r>
            <a:r>
              <a:rPr lang="en-IN" sz="26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98A6439-9CFF-C6EC-61D6-FC56784B3D8D}"/>
              </a:ext>
            </a:extLst>
          </p:cNvPr>
          <p:cNvSpPr txBox="1">
            <a:spLocks/>
          </p:cNvSpPr>
          <p:nvPr/>
        </p:nvSpPr>
        <p:spPr>
          <a:xfrm>
            <a:off x="76200" y="1360713"/>
            <a:ext cx="11691257" cy="519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4BE0AD-8FA7-6D90-D90E-68DF369E2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56137"/>
            <a:ext cx="10206038" cy="393973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E815A9-59A6-3F05-D2DD-8E6AE1C34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Cyber talents</a:t>
            </a:r>
          </a:p>
        </p:txBody>
      </p:sp>
    </p:spTree>
    <p:extLst>
      <p:ext uri="{BB962C8B-B14F-4D97-AF65-F5344CB8AC3E}">
        <p14:creationId xmlns:p14="http://schemas.microsoft.com/office/powerpoint/2010/main" val="3127295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6B4D8-168A-6DC6-D0DF-11B2FC101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284514"/>
            <a:ext cx="12192000" cy="4892449"/>
          </a:xfrm>
        </p:spPr>
        <p:txBody>
          <a:bodyPr/>
          <a:lstStyle/>
          <a:p>
            <a:pPr marL="0" indent="0">
              <a:buNone/>
            </a:pP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The warning logging level in a network device is used to log events or conditions that may indicate a potential problem or error in the system</a:t>
            </a:r>
          </a:p>
          <a:p>
            <a:endParaRPr lang="en-US" sz="1600" dirty="0">
              <a:solidFill>
                <a:srgbClr val="374151"/>
              </a:solidFill>
              <a:latin typeface="Söhne"/>
            </a:endParaRPr>
          </a:p>
          <a:p>
            <a:pPr marL="0" indent="0" algn="l">
              <a:buNone/>
            </a:pP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For example, you might use the warning logging level to log events such as: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A network interface that is experiencing high utilization or congestion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A system process that is using a significant amount of CPU or memory resources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78DFBBE-947C-C4AB-5C14-39F0FFD83E2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957943"/>
          </a:xfrm>
          <a:prstGeom prst="rect">
            <a:avLst/>
          </a:prstGeom>
          <a:solidFill>
            <a:srgbClr val="CC009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When Would you see the warning logging level in Network device </a:t>
            </a:r>
            <a:r>
              <a:rPr lang="en-IN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5FEAD7D-C3B7-6AC6-E995-90ABB10EDC0A}"/>
              </a:ext>
            </a:extLst>
          </p:cNvPr>
          <p:cNvSpPr txBox="1">
            <a:spLocks/>
          </p:cNvSpPr>
          <p:nvPr/>
        </p:nvSpPr>
        <p:spPr>
          <a:xfrm>
            <a:off x="0" y="3069772"/>
            <a:ext cx="12192000" cy="828833"/>
          </a:xfrm>
          <a:prstGeom prst="rect">
            <a:avLst/>
          </a:prstGeom>
          <a:solidFill>
            <a:srgbClr val="CC009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l"/>
            <a:endParaRPr lang="en-IN" sz="2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l"/>
            <a:r>
              <a:rPr lang="en-IN" sz="2600" b="1" dirty="0">
                <a:solidFill>
                  <a:schemeClr val="bg1"/>
                </a:solidFill>
                <a:latin typeface="Arial Black" panose="020B0A04020102020204" pitchFamily="34" charset="0"/>
              </a:rPr>
              <a:t>  </a:t>
            </a:r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What is the purpose of the informational logging level?</a:t>
            </a:r>
          </a:p>
          <a:p>
            <a:b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N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F4A80D-0F28-2EE3-B41C-405DF432BA45}"/>
              </a:ext>
            </a:extLst>
          </p:cNvPr>
          <p:cNvSpPr txBox="1"/>
          <p:nvPr/>
        </p:nvSpPr>
        <p:spPr>
          <a:xfrm>
            <a:off x="141514" y="4225176"/>
            <a:ext cx="120504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The informational logging level in a network device provides useful system information for troubleshooting and maintenance purposes, such as system startup messages, network protocol statistics, and user activity. </a:t>
            </a:r>
          </a:p>
          <a:p>
            <a:endParaRPr lang="en-US" dirty="0">
              <a:solidFill>
                <a:srgbClr val="374151"/>
              </a:solidFill>
              <a:latin typeface="Söhne"/>
            </a:endParaRPr>
          </a:p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It helps network administrators monitor the performance of the system and identify potential issues.</a:t>
            </a:r>
            <a:endParaRPr lang="en-IN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82727D-19E2-86E6-EB71-03F7CAB7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Cyber talents</a:t>
            </a:r>
          </a:p>
        </p:txBody>
      </p:sp>
    </p:spTree>
    <p:extLst>
      <p:ext uri="{BB962C8B-B14F-4D97-AF65-F5344CB8AC3E}">
        <p14:creationId xmlns:p14="http://schemas.microsoft.com/office/powerpoint/2010/main" val="2716562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690AE-1BAF-CAE2-391C-B894F097E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240971"/>
            <a:ext cx="12192000" cy="643345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en-US" sz="12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indent="0">
              <a:buNone/>
            </a:pPr>
            <a:br>
              <a:rPr lang="en-US" sz="1200" dirty="0"/>
            </a:b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B22184-E00B-8F5D-3EA0-FC4C96E1DE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56137"/>
          </a:xfrm>
          <a:prstGeom prst="rect">
            <a:avLst/>
          </a:prstGeom>
          <a:solidFill>
            <a:srgbClr val="CC009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600" b="1" dirty="0">
                <a:solidFill>
                  <a:schemeClr val="bg1"/>
                </a:solidFill>
                <a:latin typeface="Arial Black" panose="020B0A04020102020204" pitchFamily="34" charset="0"/>
              </a:rPr>
              <a:t>Can you explain the difference between the emergency, alert, and critical logging levels?</a:t>
            </a:r>
            <a:r>
              <a:rPr lang="en-IN" sz="26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98A6439-9CFF-C6EC-61D6-FC56784B3D8D}"/>
              </a:ext>
            </a:extLst>
          </p:cNvPr>
          <p:cNvSpPr txBox="1">
            <a:spLocks/>
          </p:cNvSpPr>
          <p:nvPr/>
        </p:nvSpPr>
        <p:spPr>
          <a:xfrm>
            <a:off x="65314" y="1360713"/>
            <a:ext cx="12126685" cy="519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The emergency logging level in a network device is used to log critical system failures that require immediate attention.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solidFill>
                  <a:srgbClr val="374151"/>
                </a:solidFill>
                <a:latin typeface="Söhne"/>
              </a:rPr>
              <a:t>A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lert level is used for events that require immediate action but are not critical system failures.</a:t>
            </a:r>
            <a:endParaRPr lang="en-US" sz="1600" dirty="0">
              <a:solidFill>
                <a:srgbClr val="374151"/>
              </a:solidFill>
              <a:latin typeface="Söhne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solidFill>
                  <a:srgbClr val="374151"/>
                </a:solidFill>
                <a:latin typeface="Söhne"/>
              </a:rPr>
              <a:t>C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ritical level is used for events that could cause significant problems if not addressed quickly.</a:t>
            </a:r>
          </a:p>
          <a:p>
            <a:pPr marL="514350" indent="-514350">
              <a:buFont typeface="+mj-lt"/>
              <a:buAutoNum type="arabicPeriod"/>
            </a:pPr>
            <a:endParaRPr lang="en-US" sz="1600" dirty="0">
              <a:solidFill>
                <a:srgbClr val="374151"/>
              </a:solidFill>
              <a:latin typeface="Söhne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374151"/>
                </a:solidFill>
                <a:latin typeface="Söhne"/>
              </a:rPr>
              <a:t>Example</a:t>
            </a:r>
            <a:r>
              <a:rPr lang="en-US" sz="1600" dirty="0">
                <a:solidFill>
                  <a:srgbClr val="374151"/>
                </a:solidFill>
                <a:latin typeface="Söhne"/>
              </a:rPr>
              <a:t>: 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Emergency: System crashes, hardware failures, or network outages that impact critical services or applications.</a:t>
            </a:r>
          </a:p>
          <a:p>
            <a:pPr marL="0" indent="0">
              <a:buNone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Söhne"/>
              </a:rPr>
              <a:t>Alert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: Security breaches, software errors, or service disruptions that require immediate action to prevent further damage or data loss</a:t>
            </a:r>
            <a:r>
              <a:rPr lang="en-US" sz="1600" dirty="0">
                <a:solidFill>
                  <a:srgbClr val="374151"/>
                </a:solidFill>
                <a:latin typeface="Söhne"/>
              </a:rPr>
              <a:t>.</a:t>
            </a:r>
          </a:p>
          <a:p>
            <a:pPr marL="0" indent="0">
              <a:buNone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Söhne"/>
              </a:rPr>
              <a:t>Critical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: Network congestion or performance degradation, configuration errors, or system component failures that could cause significant problems if not addressed quickly.</a:t>
            </a:r>
            <a:endParaRPr lang="en-IN" sz="1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22C166-DB93-DBA9-350B-4109EEBBE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0518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öhne"/>
              </a:rPr>
              <a:t>Can you explain the difference between the emergency, alert, and critical logging levels? in short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186ED-E8D9-01D9-FDE5-7D9A68CE3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Cyber talents</a:t>
            </a:r>
          </a:p>
        </p:txBody>
      </p:sp>
    </p:spTree>
    <p:extLst>
      <p:ext uri="{BB962C8B-B14F-4D97-AF65-F5344CB8AC3E}">
        <p14:creationId xmlns:p14="http://schemas.microsoft.com/office/powerpoint/2010/main" val="2593386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2813</Words>
  <Application>Microsoft Office PowerPoint</Application>
  <PresentationFormat>Widescreen</PresentationFormat>
  <Paragraphs>243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Arial Black</vt:lpstr>
      <vt:lpstr>Söhne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Narendra Ponugoti</dc:creator>
  <cp:lastModifiedBy>Narendra Ponugoti</cp:lastModifiedBy>
  <cp:revision>1</cp:revision>
  <dcterms:created xsi:type="dcterms:W3CDTF">2024-01-28T14:31:34Z</dcterms:created>
  <dcterms:modified xsi:type="dcterms:W3CDTF">2024-01-28T14:35:52Z</dcterms:modified>
</cp:coreProperties>
</file>